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74e08b02494a25" /><Relationship Type="http://schemas.openxmlformats.org/officeDocument/2006/relationships/extended-properties" Target="/docProps/app.xml" Id="R6b9cb6089e8945f3" /><Relationship Type="http://schemas.openxmlformats.org/officeDocument/2006/relationships/officeDocument" Target="/ppt/presentation.xml" Id="R658a272701ad49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d518d783674e41"/>
  </p:sldMasterIdLst>
  <p:notesMasterIdLst>
    <p:notesMasterId xmlns:r="http://schemas.openxmlformats.org/officeDocument/2006/relationships" r:id="R5cac1aef9f3b49b8"/>
  </p:notesMasterIdLst>
  <p:sldIdLst>
    <p:sldId xmlns:r="http://schemas.openxmlformats.org/officeDocument/2006/relationships" id="256" r:id="R6ddf0acb9b8440ac"/>
    <p:sldId xmlns:r="http://schemas.openxmlformats.org/officeDocument/2006/relationships" id="257" r:id="R4517063f49b646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518d783674e41" /><Relationship Type="http://schemas.openxmlformats.org/officeDocument/2006/relationships/theme" Target="/ppt/theme/theme1.xml" Id="R1bdbc3030f6049a3" /><Relationship Type="http://schemas.openxmlformats.org/officeDocument/2006/relationships/notesMaster" Target="/ppt/notesMasters/notesMaster1.xml" Id="R5cac1aef9f3b49b8" /><Relationship Type="http://schemas.openxmlformats.org/officeDocument/2006/relationships/presProps" Target="/ppt/presProps.xml" Id="R08d6b1ba637146f2" /><Relationship Type="http://schemas.openxmlformats.org/officeDocument/2006/relationships/viewProps" Target="/ppt/viewProps.xml" Id="R8f8cc41a5dba4223" /><Relationship Type="http://schemas.openxmlformats.org/officeDocument/2006/relationships/tableStyles" Target="/ppt/tableStyles.xml" Id="Rbf03f0573c7b4c73" /><Relationship Type="http://schemas.openxmlformats.org/officeDocument/2006/relationships/slide" Target="/ppt/slides/slide1.xml" Id="R6ddf0acb9b8440ac" /><Relationship Type="http://schemas.openxmlformats.org/officeDocument/2006/relationships/slide" Target="/ppt/slides/slide2.xml" Id="R4517063f49b646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b5dee8c042240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e9a11337e4254" /><Relationship Type="http://schemas.openxmlformats.org/officeDocument/2006/relationships/notesMaster" Target="/ppt/notesMasters/notesMaster1.xml" Id="R476700058d8541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fa608f63a34807" /><Relationship Type="http://schemas.openxmlformats.org/officeDocument/2006/relationships/notesMaster" Target="/ppt/notesMasters/notesMaster1.xml" Id="Ra644257bda104b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f1c22f96e4c5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77e48d2ed4488c" /><Relationship Type="http://schemas.openxmlformats.org/officeDocument/2006/relationships/slideLayout" Target="/ppt/slideLayouts/slideLayout2.xml" Id="Rbb487362140045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487362140045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01da04b0564c44" /><Relationship Type="http://schemas.openxmlformats.org/officeDocument/2006/relationships/notesSlide" Target="/ppt/notesSlides/notesSlide1.xml" Id="R8fe6d2350e1e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7cd816a4894516" /><Relationship Type="http://schemas.openxmlformats.org/officeDocument/2006/relationships/notesSlide" Target="/ppt/notesSlides/notesSlide2.xml" Id="R4febe6ccd6ed4d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784D70-863F-4A04-83A2-0F8BD411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6208F-A5A3-4B5F-877F-B71DBD47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923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UR5 搭载 D405 的生物实验视觉定位数据流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3268F-E52B-463C-A483-454653AE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从 RGB-D 采集到物体在机器人基坐标系下的三维重心，配置参数作为外部先验接入对应处理环节。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D86DC-33FD-4445-A290-099ECC1F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67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中文流程图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6E5DC-AD13-4F6E-8590-EF4F6483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728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BFF43-3F13-40B4-951A-3A707371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D405 采集参数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30 帧预热 / 10 帧采集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深度对齐到彩色流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2F151-AE90-4EC1-A3CD-19F0CBB5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227C1-225F-4C14-AE0E-9EA6336D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85850"/>
            <a:ext cx="3314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视觉模型配置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VL_MODE=api：Qwen3-VL-30B-A3B-Instruct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SAM2.1 Hiera Tiny，CUDA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6A8C9-9672-4167-8C83-B448CF29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1CA4C-D295-4E15-8C1E-60F4C19F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相机内参与深度尺度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D405 对齐流内参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深度尺度 + 深度补偿系数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46084-8C82-41F0-8260-F569C92F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7C6A7-67D8-4A31-BCB3-4EBCD9C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机器人与手眼标定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UR5 TCP 30003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T_cam_to_end 4×4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671C4-948C-473B-AF3A-551862E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57C53-EC5F-4E16-B3A8-AE3CEDB5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4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BFEA8-7117-44BD-BEB3-50DA7A7E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2434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08B19-1379-4D18-93B3-01323F08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84E0F-C19E-4167-89D6-E555C0B1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相机拍摄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4C96A-1280-4CB4-8C57-67F1619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获取同一时刻、同一视角下的彩色图和深度图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48C78-827B-43F1-8354-FBCD3C5A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CEFF2-25CD-423A-93C2-1D00F656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启动 RealSense pipeline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F43A5-FFE6-44DE-B06C-EE6DC19C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3738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51DB2-3DE7-457A-930A-6C8F8DA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0413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预热 + Temporal Filter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70C58-5607-4118-812B-800D53A2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76625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D4EC7-7196-4C76-9777-7A24B7E4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3300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采集多帧 RGB-D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6ACBB-97F9-41E6-BB28-9C7AE29B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9513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9BF3F9-4B7E-42F9-8C58-BB340789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6188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深度中值滤波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D08C0-AA5F-4CCA-8067-B76F1304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262A3-395A-45AB-BAE1-0E713C97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29075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RGB-D 对齐到 color stream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ED5BB-5C83-46DF-8506-A2298421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输入：实验台场景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59C9B-DBE9-401E-AAC4-09D9479B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输出：color.jpg + depth.png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32476E-302F-4CD7-B677-1D067E65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EA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08E1B-7641-48C2-8E48-CA283A8B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AD"/>
          </a:solidFill>
          <a:ln xmlns:a="http://schemas.openxmlformats.org/drawingml/2006/main" w="0">
            <a:solidFill>
              <a:srgbClr val="315E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5042C5-AAAB-4194-90DD-715EAA67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C88982-6070-4E7A-A9D9-9381C1E7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VLM 识别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C132ED-1668-425D-80C3-F6D3ED7D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把目标物体从图像中定位为候选框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66DE0B-93BD-4935-8BAE-6CD3DB76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99040D-9F93-43C5-9E6E-115F93A6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57525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Agent 输入 prompt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029232-F288-4033-9DA1-AD9E91F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33738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15EA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15EA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3D9B3C-0D7C-4F9B-934D-5A96C774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00413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Qwen3-VL API / 本地模型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BDE522-6D7C-4B83-93F7-1643BA54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76625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15EA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15EA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13D455-3472-429A-8A87-AD846204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43300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 0-1000 归一化框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073F92-4E6F-4656-924D-1F707DF6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9513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15EA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15EA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57D806-C58A-47A9-B2CD-A222EF67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86188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解析为像素坐标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8F8B06-9CC9-4D13-AAA4-7F54DA96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62400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15EA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15EA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52591D-F72F-4249-A9F2-C2F46A97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029075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过滤小面积框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54952B-FF33-4BF8-9C6A-4CC2FA60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输入：color.jpg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6CF41B-566C-453C-8A61-D340786A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输出：目标名 + bbox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CF960F-5081-4DC8-9D3D-1325622B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5C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25251D-35CE-40B0-9733-3B564307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52"/>
          </a:solidFill>
          <a:ln xmlns:a="http://schemas.openxmlformats.org/drawingml/2006/main" w="0">
            <a:solidFill>
              <a:srgbClr val="C85C5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A0D5E0-83A5-4AF4-A80C-5035F2F8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D88497-9848-47B1-8CA3-F19E13EB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SAM2 分割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6E853A-425F-4E78-B851-5878BC1B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将粗框细化为可用于深度裁剪的像素级 mask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EA58E7-9047-4DA2-93A9-584DC11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204F3D-2ED4-4601-899B-CB00FFB8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57525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set_image 载入彩图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4E77DE-2163-4762-A8B0-2026EE23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2306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F8733B-4EBB-4546-AD78-83E9A4BF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69456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bbox 作为 box prompt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17920A-F9CC-487C-A33E-3E7D338E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4238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621B0A-8543-4858-B734-E76B181F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81388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SAM2.1 Hiera Tiny 预测 mask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4D7781-E7AF-4F0F-ABF3-55F968AC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6169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5F0257-2262-42A5-AA2B-9B504CC6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693319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开/闭运算清理边界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5A3C98-5266-4369-9A30-02797E79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03EC57-F0D4-4C69-8A2D-D4636336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905250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删除小连通域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B0F23C-5261-4049-8A90-BA9EE0E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60031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FDEE89-6AE5-4203-96BF-B3E1A61D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17181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GaussianBlur 平滑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BA4C84-9805-4744-91A8-ADB9FA9B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输入：color.jpg + bbox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E4D1DB-A72F-4467-A6F2-D9B085A7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输出：bool mask + overlay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D0EB2A-A7A8-4D9D-A553-2B630537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8A7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3AE4A0-F3B7-4077-A9F4-9BDE4814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7A"/>
          </a:solidFill>
          <a:ln xmlns:a="http://schemas.openxmlformats.org/drawingml/2006/main" w="0">
            <a:solidFill>
              <a:srgbClr val="1D8A7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FB8E55-0872-406F-A19A-4F31A1F6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3EF8EC-86C7-43BB-B408-0A949EF0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点云重建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23B622-43B8-4429-861E-3047BFB0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把目标 mask 内深度转换为相机坐标系点云并求重心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331B27-CFF7-4F51-BD46-D7DAD582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9559D0-621D-4ACA-B9DD-913EC9AF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深度值 × 深度尺度 × 深度补偿系数得 z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70C4B9-72F0-44B1-A87F-1AE4E9BF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2306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F53F21D-5C18-4B9A-93ED-10AC909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69456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由 D405 内参反投影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1483EE-8D8A-43E5-8E08-C4EAE2EC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4238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7D0577-C0F9-4E37-B0DA-892AE7B9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81388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mask 裁剪目标点云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B9D2CC6-2E00-4482-A370-D73E445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6169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0F1340C-3534-4D08-BD00-5C94E6E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693319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体素降采样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E30BB0-7349-4820-88DF-67D7A50A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9C43CB-9FC7-4849-B5A2-A6F9BF3E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05250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统计离群滤波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E26646E-F3D7-4AA2-BD53-19023FD8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60031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0DFABF-E5F8-4F09-92D3-FE634644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117181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PCA 求 OBB 与最短边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FF8695-BE8A-404C-ADBF-A3B16C2C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输入：depth.png + mask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92577D7-4FF5-4EDE-B815-01DABD98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输出：目标点云 + OBB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E9CCD9B-62CC-4FDA-9C24-84067C72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841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D908181-C970-4440-BF36-C9366708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1B"/>
          </a:solidFill>
          <a:ln xmlns:a="http://schemas.openxmlformats.org/drawingml/2006/main" w="0">
            <a:solidFill>
              <a:srgbClr val="C8841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2B8CA35-1601-4B57-B73F-EDB51446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569C2FC-CE83-4969-B4EC-702AB7E6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9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坐标变换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A27FA93-D1AF-4E07-8136-B682912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把相机坐标重心转换到 UR5 基坐标系供操作规划使用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9F6584-4A97-44D6-AD74-11D5A58A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DFBD5F0-686A-4B8B-963F-3974D478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57525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自适应 DBSCAN 聚类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37B2C3-E96D-46C2-B7B6-1D011BEA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212306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9C0C033-3C56-43FD-80D6-948CA53E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69456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OBB 中心区域均值求重心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09DA4A-D01E-448A-B7E6-B1AFFC98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4238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23B295-1CAD-4027-9CB8-B29D8DFD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481388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读取 UR5 TCP 位姿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A004A1A-7084-43F3-A296-1568A16E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636169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DDE655C-D21E-4D29-90A2-299D0424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93319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Rodrigues 转 T_end_base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FC4959-CA23-4027-A563-E5F76BD5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848100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4E9877-7D1A-44D1-A5E1-442F8046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05250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引入手眼 T_cam_end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24ED122-E3EB-497D-BBB3-BF146608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60031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48A032C-3A24-4911-AE77-E52BFD74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17181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输出并写入 vision_result.txt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2509DB7-56EC-4C5F-BCE6-87B819AF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输入：相机系重心 P_cam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1831A43-F656-46DC-93C9-93423663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输出：基坐标系 [x,y,z]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288E78-8BB6-41C2-8B5F-CD2F09E2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53F9387-5E7A-4DE0-BC0F-D260656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rPr>
              <a:t>RGB-D 文件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47A510A-53AC-4E4A-AB67-09986094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9E866A-9C4F-43D3-8006-EE41D69B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rPr>
              <a:t>候选框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47DA3D4-4683-46B0-8D3C-EAC9EF90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F3CABEB-2FF0-4F2B-B140-844A371C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rPr>
              <a:t>目标 mask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BF4079D-C554-4988-A35D-2A65A8A8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E282F72-C9FF-4CD4-9DC5-3C0CB307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rPr>
              <a:t>3D 重心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5E02BBF-463F-4495-AE54-0126A2D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图例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179AF4-0F69-4D9D-A14F-B121059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绿色：模块输入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50BE42B-67BC-4B9E-9A3F-C3C128C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蓝色：模块输出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2E93465-6112-4851-93F1-4988F39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19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黄色：config.py 先验/标定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AD885AA-163C-40C0-B60C-7CBDEA25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57900"/>
            <a:ext cx="1133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Debug 模式还会保存 VLM 检测图、SAM overlay/mask、Open3D 点云截图和 2×2 报告图；experiment 模式只输出终端与 result/vision_result.txt。</a:t>
            </a:r>
          </a:p>
        </p:txBody>
      </p:sp>
    </p:spTree>
    <p:extLst>
      <p:ext uri="{BB962C8B-B14F-4D97-AF65-F5344CB8AC3E}">
        <p14:creationId xmlns:p14="http://schemas.microsoft.com/office/powerpoint/2010/main" val="7526818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01F53-AFE5-4C6C-AF05-EDD63D8E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4314C-A859-4713-BE46-40CE9038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923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UR5-mounted D405 vision localization pipeline for biological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F7764-AB26-4271-B640-D639022A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The pipeline converts one RGB-D observation into object centroids in the robot base frame; config.py supplies calibration and model priors.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6C196-B858-4556-A611-20A711C3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67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English flowchart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BA1E5-775A-49E5-A58F-B4356AF4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728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BEE55-0976-4453-8ECF-7FB027F3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D405 capture settings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30 warm-up / 10 collection frames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Depth aligned to color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D3287-38C8-40D5-BB0D-0639D683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2C0DD-7A90-4F78-ACDC-CEBF4935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85850"/>
            <a:ext cx="3314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Vision model settings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VL_MODE=api: Qwen3-VL-30B-A3B-Instruct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SAM2.1 Hiera Tiny on CUDA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3C0B8-BFA1-4134-A552-1635886B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A8CCF-9D23-4D99-80B9-88F05038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Camera intrinsics + depth scale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D405 aligned intrinsics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Depth scale + compensation factor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CB18E-EC99-4DF6-B5D0-48B9398C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6F3F4-33DC-46C8-9FDE-F67710D7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Robot and hand-eye calibration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UR5 TCP 30003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T_cam_to_end 4×4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133D2-60B7-450F-BA75-B7EE4456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8F1FE-1779-453F-85C4-4F4CA207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4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1C8D8-EB5B-4D83-9034-9582ED50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2434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1F80A-8803-434E-8964-82B67A3A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04140-8CC9-47C1-B60E-E38A1A77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RGB-D 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F2D21-7A3B-4D30-8A93-192ED5F6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Acquire synchronized color and depth images from the lab bench.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9695F-1DA6-4E24-919A-4460226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0460B-5ADB-4BC9-BC5A-4562BADC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Start RealSense pipeline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931C5-F3AA-45B5-906E-50CB9923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3738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28AA6-F039-44E6-A978-A119AD65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0413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Warm up + temporal filter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79497-B6E3-4790-912E-C527F75C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76625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3551E-7CF6-4B63-9DF0-399EC7C9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3300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Collect multiple RGB-D frames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4E2FD-39E1-4E93-AD0B-EA962D68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9513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9275E-E54B-4F23-8681-36509114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6188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Median-filter depth 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7B37B-C950-4CDC-9E08-6C11D7B2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0F429-A247-41F3-BB3A-996C1C3C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29075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Align RGB-D to color stream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0DA656-B5CD-4654-BFE4-4DF4065C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bench scene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1E0C7-E847-4E61-A49B-1321451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color.jpg + depth.png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5157E-1FD9-4F83-8345-99E1E838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EA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D226C9-615A-4AA9-9BCD-F4D4B1D8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AD"/>
          </a:solidFill>
          <a:ln xmlns:a="http://schemas.openxmlformats.org/drawingml/2006/main" w="0">
            <a:solidFill>
              <a:srgbClr val="315E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EDA6D1-F87B-4760-AB50-59299091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E15EB-B00F-4E87-AF9E-E6AC2B18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VLM Detection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B0EB4B-0671-45A8-9E2E-9367280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Localize target lab objects as coarse candidate boxes.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4D586F-8F1D-4DE4-BA96-8DAD6439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55F585-3E5D-4841-8965-21541257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57525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 sends prompt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E0E8EF-CC45-4F47-A5AF-338DCE00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33738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15EA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15EA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2C61E3-4F91-4E16-B87D-C9BDFC7B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00413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Qwen3-VL API / local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F58A04-F511-4B45-8747-E94E518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76625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15EA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15EA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D8DC34-5F1C-4C9C-A6DE-59CC1872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43300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Return normalized 0-1000 boxes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A90710-9693-4320-8F28-49135D1C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9513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15EA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15EA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3FBF68-5342-4A44-9DB9-8196AA12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86188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Parse to pixel coordinates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B51D3B-2375-4275-867D-6F16A1F6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62400"/>
            <a:ext cx="19050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315EA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315EA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09A785-A5FE-4CCA-9977-E923B0F6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029075"/>
            <a:ext cx="1733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small boxes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3AF0A2-01D7-43D5-8969-4EE7DFEE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color.jpg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4FB468-9E32-4578-B765-E176292B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object name + bbox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86CFBF-ABEF-47C1-A945-C42E88B9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5C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E34EE3-27F3-4D22-90D2-4184CA63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52"/>
          </a:solidFill>
          <a:ln xmlns:a="http://schemas.openxmlformats.org/drawingml/2006/main" w="0">
            <a:solidFill>
              <a:srgbClr val="C85C5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880479-8FC2-4A8A-98BB-A61918D2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D54F38-7329-40CE-A10D-EDE2EFF9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SAM2 Segmentation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731E10-0BDE-4B21-BDF5-88702DCE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Refine each coarse box into a pixel mask for depth cropping.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1FB92D-4211-44B0-9312-E0B333D0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808CDC-C588-4837-A622-06EA27EC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57525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Load color image with set_image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71E12D-B451-4AD6-9592-D25A797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2306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EC4D4E-AD47-44C1-8321-F9610BCA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69456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bbox as box prompt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1A6DF5-B410-4BC5-A1B0-0D1C20C6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4238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CB0912-E9AF-4878-92CF-62C0790A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81388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SAM2.1 Hiera Tiny predicts mask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F77A16-4A00-409D-80EA-40909247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6169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E7225D-66C7-42D5-8FD7-C2F17E0E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693319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Open/close boundary cleanup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59C7DF-A94B-499F-955A-A6E0E05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46C255-DB2C-4256-A068-B533605B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905250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Remove small components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871989-35CE-4034-896D-49E8684B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60031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5C52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5C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6F4712-3CD9-4533-884E-C0B87FE5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17181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Gaussian smoothing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D1A246-225F-49DD-951E-E9BB483D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color.jpg + bbox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785B37-D755-4313-B29D-F06FEB8A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bool mask + overlay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FE297E-CBD3-40EB-BA9F-6673345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8A7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B9B800-63E6-4BB9-B2B8-84FCA91E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7A"/>
          </a:solidFill>
          <a:ln xmlns:a="http://schemas.openxmlformats.org/drawingml/2006/main" w="0">
            <a:solidFill>
              <a:srgbClr val="1D8A7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B0EC3E-7F0A-4279-AC8B-972F487F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2805E6C-C909-448B-BC15-709AC7F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Point-cloud Reconstruction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AE2619-85DB-462F-BAB5-60AEC38F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Convert masked depth into camera-frame point clouds and centroids.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6258F0-6C2D-4511-9306-3C8639CD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08FCAD-F5C2-43FD-8846-919E9EC8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z = raw depth × depth scale × compensation factor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E5E61C-66DE-439B-80EA-015BE75F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2306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DC1EBE-FA2E-43DE-89FC-B6D372FC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69456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Back-project with D405 intrinsics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4F6F26-2C31-4375-A68D-4B02B65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4238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3335FD8-6F86-438B-AA7E-C5EA533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81388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Crop object points by mask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1A0C50-498F-4E84-B99D-B3C2BD04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6169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E94083-2982-41C2-8EC9-A000CCD0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693319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Voxel downsample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72D386-EB91-42B5-ACC6-4EA7F55E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902451-6A4B-4A72-ABEA-B76C694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05250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Statistical outlier removal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E1F301-9C1B-46AC-A6A1-E62D472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60031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D8A7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1B8188C-CAEC-4BA8-89C9-CF6182D6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117181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PCA estimates OBB and shortest axis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685840B-A857-46A7-9950-36CADFBD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depth.png + mask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22C0B8-E48E-4921-8864-7C185851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object cloud + OBB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0655DBC-FD05-47C5-8EAE-8D0CAEEC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841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EEE7712-C0AE-4453-B149-CD334153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1B"/>
          </a:solidFill>
          <a:ln xmlns:a="http://schemas.openxmlformats.org/drawingml/2006/main" w="0">
            <a:solidFill>
              <a:srgbClr val="C8841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7562E1F-94A2-4B75-BF12-19940080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8458462-CBB9-47DF-98EE-111F49CD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82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82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Coordinate Transform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42E6524-2927-41D6-B889-BA3C75AE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Transform camera-frame centroids into the UR5 base frame.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AE8526A-B896-4F85-A165-6D50DC74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3A7E683-ADAB-4885-AAA9-7D47885B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57525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Adaptive DBSCAN clustering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0ECFC40-44F3-4BFB-A031-03E7136E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212306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6E5DFC5-66E4-43A4-98C6-969A30F9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69456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Mean centroid after OBB-centered trimming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1618F57-FC1F-4F7C-83CA-DED26E6C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24238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C158980-58B8-4BA0-8C9E-F567F8DF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481388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 UR5 TCP pose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E57645-2B16-4B55-8ACB-196C4C81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636169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CE7B22F-AC88-4B4B-84EC-20BEDC8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93319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Rodrigues converts T_end_base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959C34-3F0E-482C-A298-4C32FF56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848100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327DFBB-4449-4126-BAB4-6D5A0354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05250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Apply hand-eye T_cam_end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9B3037-86D0-4264-8199-B89E3760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60031"/>
            <a:ext cx="190500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C8841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8841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3F534A-CA09-4DB5-8057-428E7C35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17181"/>
            <a:ext cx="1733550" cy="15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9D3DF"/>
            </a:solidFill>
            <a:prstDash val="solid"/>
          </a:ln>
        </p:spPr>
        <p:txBody>
          <a:bodyPr xmlns:a="http://schemas.openxmlformats.org/drawingml/2006/main" lIns="28575" tIns="9525" rIns="28575" bIns="9525" anchor="ctr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Write vision_result.txt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1111048-7D54-41C7-B516-3FC2C2FD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camera-frame centroid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79A4F9D-D0BF-46C4-A54D-02F1930F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base-frame [x,y,z]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3AB6471-3C13-47F9-90C8-E21A419D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63E4A21-10A5-4799-85D3-AF8AE01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RGB-D files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9CB2B5C-2D92-455E-B0ED-176D2454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C8FA1BC-1B35-4689-A238-A605EE9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boxes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2A4C1EA-4FC5-4633-80A0-C6098081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ACC1473-78E1-4F6E-A7EB-D820859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masks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683F517-EEFB-4331-AC6F-A978FA79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58AFA4-83C6-4E8F-95FB-4F1FB6AF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3D centroids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4FDE2A4-9106-4BE8-B8B0-18C8BE1C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Legend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E33CBF9-FF99-477A-B5E7-AAB0776B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Green: module input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A5D7C06-8A18-4BAA-B850-06EDF191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Blue: module output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EAB6BB6-37B8-4498-A28F-23CAEEDE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19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Yellow: config.py prior/calibration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31B0C1-1A8E-42F3-8688-ED8DC6C1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57900"/>
            <a:ext cx="1133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57282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57282"/>
                </a:solidFill>
                <a:latin typeface="Aptos"/>
                <a:ea typeface="Aptos"/>
                <a:cs typeface="Aptos"/>
              </a:rPr>
              <a:t>Debug mode also saves VLM detections, SAM overlays/masks, Open3D point-cloud screenshots, and a 2×2 report; experiment mode keeps terminal output and result/vision_result.txt.</a:t>
            </a:r>
          </a:p>
        </p:txBody>
      </p:sp>
    </p:spTree>
    <p:extLst>
      <p:ext uri="{BB962C8B-B14F-4D97-AF65-F5344CB8AC3E}">
        <p14:creationId xmlns:p14="http://schemas.microsoft.com/office/powerpoint/2010/main" val="1307830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2026-06-01T14:27:21.4130000Z</dcterms:created>
  <dcterms:modified xsi:type="dcterms:W3CDTF">2026-06-01T14:27:21.4130000Z</dcterms:modified>
</coreProperties>
</file>