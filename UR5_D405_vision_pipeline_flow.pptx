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1e57eeb8be4440" /><Relationship Type="http://schemas.openxmlformats.org/officeDocument/2006/relationships/extended-properties" Target="/docProps/app.xml" Id="Rbf21c5088fa84442" /><Relationship Type="http://schemas.openxmlformats.org/officeDocument/2006/relationships/officeDocument" Target="/ppt/presentation.xml" Id="Rb91fc2793b86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de8f8487e42b0"/>
  </p:sldMasterIdLst>
  <p:notesMasterIdLst>
    <p:notesMasterId xmlns:r="http://schemas.openxmlformats.org/officeDocument/2006/relationships" r:id="R465f35af3e944308"/>
  </p:notesMasterIdLst>
  <p:sldIdLst>
    <p:sldId xmlns:r="http://schemas.openxmlformats.org/officeDocument/2006/relationships" id="256" r:id="R454bcbc499784a5f"/>
    <p:sldId xmlns:r="http://schemas.openxmlformats.org/officeDocument/2006/relationships" id="257" r:id="Rbc844189bf9749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de8f8487e42b0" /><Relationship Type="http://schemas.openxmlformats.org/officeDocument/2006/relationships/theme" Target="/ppt/theme/theme1.xml" Id="Rc8d1c33035d94dd2" /><Relationship Type="http://schemas.openxmlformats.org/officeDocument/2006/relationships/notesMaster" Target="/ppt/notesMasters/notesMaster1.xml" Id="R465f35af3e944308" /><Relationship Type="http://schemas.openxmlformats.org/officeDocument/2006/relationships/presProps" Target="/ppt/presProps.xml" Id="Re5cdc25d3e6c4e3b" /><Relationship Type="http://schemas.openxmlformats.org/officeDocument/2006/relationships/viewProps" Target="/ppt/viewProps.xml" Id="R49952c5a1e0b4c2e" /><Relationship Type="http://schemas.openxmlformats.org/officeDocument/2006/relationships/tableStyles" Target="/ppt/tableStyles.xml" Id="R403bebceb5ad41ac" /><Relationship Type="http://schemas.openxmlformats.org/officeDocument/2006/relationships/slide" Target="/ppt/slides/slide1.xml" Id="R454bcbc499784a5f" /><Relationship Type="http://schemas.openxmlformats.org/officeDocument/2006/relationships/slide" Target="/ppt/slides/slide2.xml" Id="Rbc844189bf97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2b033c68a2449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0f93f42d44815" /><Relationship Type="http://schemas.openxmlformats.org/officeDocument/2006/relationships/notesMaster" Target="/ppt/notesMasters/notesMaster1.xml" Id="R30614c59091542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0b7764845940fc" /><Relationship Type="http://schemas.openxmlformats.org/officeDocument/2006/relationships/notesMaster" Target="/ppt/notesMasters/notesMaster1.xml" Id="Raf91e176ec37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9d2c023c44a1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e8e1f79ff8f4652" /><Relationship Type="http://schemas.openxmlformats.org/officeDocument/2006/relationships/slideLayout" Target="/ppt/slideLayouts/slideLayout2.xml" Id="R10cb8900105f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cb8900105f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d0bdab8b774baa" /><Relationship Type="http://schemas.openxmlformats.org/officeDocument/2006/relationships/notesSlide" Target="/ppt/notesSlides/notesSlide1.xml" Id="Reb2c18e43e8f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f44b6ed364cda" /><Relationship Type="http://schemas.openxmlformats.org/officeDocument/2006/relationships/notesSlide" Target="/ppt/notesSlides/notesSlide2.xml" Id="Rce6b29e207bc44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5F488-0A2B-400F-9EDB-77AC5DDA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78832-40C2-4781-ADDE-11B5306B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923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UR5 搭载 D405 的生物实验视觉定位数据流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EB5A9-150A-47A4-8E7D-D62B728E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从 RGB-D 采集到物体在机器人基坐标系下的三维重心，配置参数作为外部先验接入对应处理环节。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A13D8-3D18-4C3A-B845-6AFDC52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中文流程图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2F97E-94ED-4E75-8015-AB9AF140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728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E9363-7CDE-42CA-950A-F52C4861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D405 采集参数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30 帧预热 / 10 帧采集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深度对齐到彩色流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54746-3405-438B-8D5F-C2716DB6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741E5-CDE3-4E96-BAD3-4BDB9F9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858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视觉模型配置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VL_MODE=api：Qwen3-VL-30B-A3B-Instruct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SAM2.1 Hiera Tiny，CUDA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E329F-774E-4ECB-9172-5779BE84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77AF-401C-45E3-80D2-69FBC42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相机内参与深度尺度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fx=fy=663.6542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Depth scale=1e-4，Z×1.005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71A40-C4AF-4505-93B3-4DE2734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8A250-9C7A-422C-A0A8-EC7EC2F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机器人与手眼标定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UR5 TCP 30003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T_cam_to_end 4×4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E6DE9-FA23-4AF6-90C3-3DF2FAEC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741C0-BECB-460E-A3AA-ECB51715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4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3ED54-73AF-46BE-9DC8-393B913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2434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478E6-2F97-47CC-B84B-C87C6E31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619FA-47CE-49DD-B015-F6BB8037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相机拍摄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08C82-8EC2-4390-81C8-9EF3BC30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获取同一时刻、同一视角下的彩色图和深度图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7B80B4-64B6-4BD3-B179-83283A15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2C821-D594-43D6-8E0D-483BBC9A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RealSense pipeline 启动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预热帧：Temporal Filter 稳定深度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采集多帧 RGB-D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深度帧做时间滤波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多帧深度取中值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RGB-D 对齐到 color 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AD597-0919-4A1C-B2C2-8F17452C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输入：实验台场景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740E0-7986-42D3-8C64-BBE9937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输出：color.jpg + depth.png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913B4-DEFD-43D3-A3AA-441AD10A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E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091DB-D0C0-4AEE-A440-8D3EE09F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AD"/>
          </a:solidFill>
          <a:ln xmlns:a="http://schemas.openxmlformats.org/drawingml/2006/main" w="0">
            <a:solidFill>
              <a:srgbClr val="315E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5E4A3-FFDF-4AF1-A6CD-DD47FA33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461FC-7225-4F38-947B-C0FC1B2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VLM 识别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B7CB4-E120-4698-BF44-EA2AE2C4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把目标物体从图像中定位为候选框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6B4543-BCB8-4261-9155-12069A49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385E3-76A4-4F9D-A258-2C6C2BAD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Agent 输入固定/终端 prompt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API 模型：Qwen3-VL-30B-A3B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或本地 Qwen3-VL 8B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 0-1000 归一化框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解析为像素坐标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过滤面积 &lt; 3000 px 的框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FBDCB8-988C-4303-8CD1-E7510902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输入：color.jpg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92A5C-363C-47B3-95F2-92CDAE1C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输出：目标名 + bbox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82EFD-667B-4449-81D4-FD5F009C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5C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7F135-AF12-4D9F-AC8D-F6F85B6D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52"/>
          </a:solidFill>
          <a:ln xmlns:a="http://schemas.openxmlformats.org/drawingml/2006/main" w="0">
            <a:solidFill>
              <a:srgbClr val="C85C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88A255-E80C-47A2-8734-DDBE7AB6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244182-F2D4-41F9-BEB9-971D72D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SAM2 分割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901458-2026-4412-9B11-7AD832F5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将粗框细化为可用于深度裁剪的像素级 mask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DCE8C-1B5D-4E15-B562-488C3CC6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D529EC-3FE1-4D21-916A-855DD0C1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SAM2ImagePredictor.set_image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bbox 作为 box prompt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SAM2.1 Hiera Tiny 预测 mask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形态学开运算 ×2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形态学闭运算 ×1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连通域 &lt; 500 px 删除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GaussianBlur σ=3 平滑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FD098D-4648-40C7-A734-A78CBC0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输入：color.jpg + bbox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7CA4E-3FDC-473E-B6E8-B8A1D988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输出：bool mask + overlay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A1519C-C75A-40CB-AE81-CBC1883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8A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F46752-5521-44BB-9570-B283F7A3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1D8A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0F1ADA-AA89-4C86-947F-6A866B31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DCCA9D-BC1F-4905-BEF8-BC8C6145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点云重建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019D62-3611-4586-B5BF-FFF710A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把目标 mask 内深度转换为相机坐标系点云并求重心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96844F-F7C2-42E8-A794-DF45AA69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E7FADE-727C-4014-B6E7-F9C3B5E1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depth / 10000 × 1.005 得 z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由 D405 内参反投影到 (x,y,z)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mask 裁剪目标点云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体素降采样 1 mm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统计离群滤波：20 邻域, 1.5σ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PCA 求 OBB 与最短边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325A04-1092-45BF-AA0A-F158B4A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输入：depth.png + mask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59BBF6-4EDE-480B-A0FE-6F18EC61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输出：目标点云 + OBB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0ECFA3-9740-4149-9CC7-6F66C39D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841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7493C0-054E-4401-B2FA-FD2CF54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1B"/>
          </a:solidFill>
          <a:ln xmlns:a="http://schemas.openxmlformats.org/drawingml/2006/main" w="0">
            <a:solidFill>
              <a:srgbClr val="C8841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8D6CEC-5306-49BD-A8B0-23A159C0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2B3862-16B4-446F-B927-5E0BB789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9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坐标变换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AE164E-7C97-43BD-838C-4A111A6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把相机坐标重心转换到 UR5 基坐标系供操作规划使用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F473E5-93C9-448E-833D-A41C272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64F89E-A87E-4F1F-8091-A4BC0ED3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自适应 DBSCAN：eps=0.1×OBB 最短边</a:t>
            </a:r>
          </a:p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保留最大簇，可保留达 50% 的第二大簇</a:t>
            </a:r>
          </a:p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OBB 中心区域均值作为重心</a:t>
            </a:r>
          </a:p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UR pose 用 Rodrigues 转 T_end_base</a:t>
            </a:r>
          </a:p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P_base = T_end_base · T_cam_end · P_cam</a:t>
            </a:r>
          </a:p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写入 vision_result.txt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D63B64-ED31-42C7-9B96-7D242AAA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输入：相机系重心 P_cam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54D9FE-9A40-4917-82B1-9F137F1E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8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输出：基坐标系 [x,y,z]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D7DF21-DCA0-4A8C-872C-5954957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C0BCA3-1202-4683-9253-30D1D7C1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RGB-D 文件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17B1C9-7999-49A2-B916-5695851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7C8454-95E4-4495-8F8F-6D534CE3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候选框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891B64-84CE-4B2D-82DF-F10DC2E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AE39C9-A470-42F2-BB8F-854AC4CD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目标 mask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17202B-F440-4F30-B077-E737053E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1D15EB-3E30-4FE0-B44F-9112C607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0">
                <a:solidFill>
                  <a:srgbClr val="5B6778"/>
                </a:solidFill>
                <a:latin typeface="Microsoft YaHei"/>
                <a:ea typeface="Microsoft YaHei"/>
                <a:cs typeface="Microsoft YaHei"/>
              </a:rPr>
              <a:t>3D 重心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21803B-D3A5-4784-AE03-32FA674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图例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E7CF82-BE49-4A55-A582-46A343D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绿色：模块输入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2C22A6-68F6-4886-AEB1-3E9584CC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蓝色：模块输出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F7912A-FFA2-40CB-A0CB-3095C1C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19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黄色：config.py 先验/标定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04328A-599C-41E5-91BE-9CA79D8E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1133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" b="0">
                <a:solidFill>
                  <a:srgbClr val="657282"/>
                </a:solidFill>
                <a:latin typeface="Microsoft YaHei"/>
                <a:ea typeface="Microsoft YaHei"/>
                <a:cs typeface="Microsoft YaHei"/>
              </a:rPr>
              <a:t>Debug 模式还会保存 VLM 检测图、SAM overlay/mask、Open3D 点云截图和 2×2 报告图；experiment 模式只输出终端与 result/vision_result.txt。</a:t>
            </a:r>
          </a:p>
        </p:txBody>
      </p:sp>
    </p:spTree>
    <p:extLst>
      <p:ext uri="{BB962C8B-B14F-4D97-AF65-F5344CB8AC3E}">
        <p14:creationId xmlns:p14="http://schemas.microsoft.com/office/powerpoint/2010/main" val="12142345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0D532-36C3-4E80-877D-B0BBDE09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63759-A08C-4AE2-9821-3012FD28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923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UR5-mounted D405 vision localization pipeline for biological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FB070-D1AA-4640-8C28-A725F68B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The pipeline converts one RGB-D observation into object centroids in the robot base frame; config.py supplies calibration and model priors.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213C0-6065-4609-8BF1-92BE2C51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English flowchart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B3D55-7A00-4DCE-AB87-06C6CF3F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3728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902E7-E865-4D8E-A98C-DB0A427F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D405 capture settings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 warm-up / 10 collection frames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Depth aligned to color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0EE98-6CC4-44D5-994D-C9194EC1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34E35-C418-4682-A3F4-A35C40DA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85850"/>
            <a:ext cx="331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Vision model settings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VL_MODE=api: Qwen3-VL-30B-A3B-Instruct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SAM2.1 Hiera Tiny on CUDA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0D855-D833-4491-9C9E-F9513798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1C5EB-632D-4284-A01B-16D71C5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Camera intrinsics + depth scale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fx=fy=663.6542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Depth scale=1e-4, Z×1.005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C2885-E0F4-4BE4-B46C-4560D663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A09EF-3C8D-48B1-8985-64442479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085850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Robot and hand-eye calibration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UR5 TCP 30003</a:t>
            </a:r>
          </a:p>
          <a:p xmlns:a="http://schemas.openxmlformats.org/drawingml/2006/main">
            <a:pPr algn="ctr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T_cam_to_end 4×4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465C6-F2BB-43F5-BBCA-6CF8BE3A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240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8B1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8B14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1B7E7-3F36-4F82-AA13-F6562E75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34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1FCE1-F953-4F8C-AE91-A4A50F2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7"/>
          </a:solidFill>
          <a:ln xmlns:a="http://schemas.openxmlformats.org/drawingml/2006/main" w="0">
            <a:solidFill>
              <a:srgbClr val="2434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EA9CE-8148-4266-B663-1C3030FB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1C0E6-1121-4F9A-A2F9-C82D45C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RGB-D Capture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4A0F1-0A50-414F-8D74-92226B6B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Acquire synchronized color and depth images from the lab bench.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ABAC5-636A-40A5-A6F2-D82480B0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28255-D526-4DF6-A5FF-19368595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 RealSense pipeline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Warm up temporal depth filter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Collect multiple RGB-D frames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Apply temporal filtering to depth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Median-filter the collected depth stack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Align depth to color stream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44A96-C10B-4F6F-96A5-09618CC9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bench scene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1E487-6830-4B75-A233-5C8CBD8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color.jpg + depth.png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EB1721-1AE6-418D-84CE-0FAADAE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5E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4F91B-A517-4E72-887F-DBB5324D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AD"/>
          </a:solidFill>
          <a:ln xmlns:a="http://schemas.openxmlformats.org/drawingml/2006/main" w="0">
            <a:solidFill>
              <a:srgbClr val="315EA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8853A5-679A-4D57-8924-C6DB22F8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E6ADA-AA78-477E-A702-AF949818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VLM Detection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3A1AC0-1C74-4ECA-8E41-704033F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Localize target lab objects as coarse candidate boxes.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6454F-3F94-404A-913B-C6B5A940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75AEEB-4555-4A2B-B088-16508A3F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sends fixed or terminal prompt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API: Qwen3-VL-30B-A3B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or local Qwen3-VL 8B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 normalized 0-1000 boxes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Parse boxes into pixel coordinates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Reject boxes &lt; 3000 px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08868-555A-4204-B1F9-A72B5D79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color.jpg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2F553-1303-43FC-AED6-D466150C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object name + bbox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1FE9EC-9068-48C5-A225-205BBDDD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5C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931EA-E997-4107-8BFF-1D59B21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C52"/>
          </a:solidFill>
          <a:ln xmlns:a="http://schemas.openxmlformats.org/drawingml/2006/main" w="0">
            <a:solidFill>
              <a:srgbClr val="C85C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D4A1E-9F0C-46D1-AABD-8AAEA679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CCAFA-3F20-4029-A23D-0BAAF76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5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SAM2 Segmentation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26F9D2-296B-4B58-B91C-48AC4902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Refine each coarse box into a pixel mask for depth cropping.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097182-8226-4C2F-B9DF-BDBC224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4C18D2-8DE4-4286-A268-CC5A731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SAM2ImagePredictor.set_image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bbox as the box prompt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SAM2.1 Hiera Tiny predicts mask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Morphological opening ×2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Morphological closing ×1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Remove components &lt; 500 px</a:t>
            </a:r>
          </a:p>
          <a:p xmlns:a="http://schemas.openxmlformats.org/drawingml/2006/main">
            <a:pPr algn="l">
              <a:defRPr sz="81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Gaussian smoothing, σ=3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848DF4-28A1-4AD9-876C-10EFB927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color.jpg + bbox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A768B9-670E-40E3-804D-59F8162D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bool mask + overlay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8892A1-BBEC-4766-8315-0147279B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8A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ADEAEE-C707-4D62-9835-CFC0CDB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1D8A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7F900A-29C4-4EB3-AD4D-0CFB20E6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2A3FF1-F127-40D6-9C6D-798E6711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Point-cloud Reconstruction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DD932B-34C3-476D-A30D-FDDD605B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Convert masked depth into camera-frame point clouds and centroids.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5A80B6-C1FF-48A9-AC27-35434C8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FFF919-7172-4047-B449-92D14FE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z = depth / 10000 × 1.005</a:t>
            </a:r>
          </a:p>
          <a:p xmlns:a="http://schemas.openxmlformats.org/drawingml/2006/main">
            <a:pPr algn="l">
              <a:defRPr sz="77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Back-project with D405 intrinsics</a:t>
            </a:r>
          </a:p>
          <a:p xmlns:a="http://schemas.openxmlformats.org/drawingml/2006/main">
            <a:pPr algn="l">
              <a:defRPr sz="77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Crop object points by mask</a:t>
            </a:r>
          </a:p>
          <a:p xmlns:a="http://schemas.openxmlformats.org/drawingml/2006/main">
            <a:pPr algn="l">
              <a:defRPr sz="77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Voxel downsample at 1 mm</a:t>
            </a:r>
          </a:p>
          <a:p xmlns:a="http://schemas.openxmlformats.org/drawingml/2006/main">
            <a:pPr algn="l">
              <a:defRPr sz="77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Statistical outlier removal: 20-NN, 1.5σ</a:t>
            </a:r>
          </a:p>
          <a:p xmlns:a="http://schemas.openxmlformats.org/drawingml/2006/main">
            <a:pPr algn="l">
              <a:defRPr sz="77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PCA estimates OBB and shortest axis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6B40B1-4302-4070-8CC7-89F0BE5A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depth.png + mask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2A5EC6-30B3-4D6A-8549-DE27BA3E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object cloud + OBB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02CAB2-4871-4C60-A07C-C9D09EEC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841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B09968-1568-40F5-8040-E49B35FE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1B"/>
          </a:solidFill>
          <a:ln xmlns:a="http://schemas.openxmlformats.org/drawingml/2006/main" w="0">
            <a:solidFill>
              <a:srgbClr val="C8841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385CA9-B27E-4AE8-983A-A91DA95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57375"/>
            <a:ext cx="1790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F0F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EAF0F6"/>
                </a:solidFill>
                <a:latin typeface="Aptos"/>
                <a:ea typeface="Aptos"/>
                <a:cs typeface="Aptos"/>
              </a:rPr>
              <a:t>STEP 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B43B59-0656-4DD9-B6EF-830451E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288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82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82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Coordinate Transform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468B24-6758-4749-A5BA-64EFC4DA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384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Transform camera-frame centroids into the UR5 base frame.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EF2817-4B9C-48EA-A986-08E00B82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DBC4BD-2A09-4E2C-9714-C011AE50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86100"/>
            <a:ext cx="17145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Adaptive DBSCAN: eps=0.1×shortest OBB axis</a:t>
            </a:r>
          </a:p>
          <a:p xmlns:a="http://schemas.openxmlformats.org/drawingml/2006/main">
            <a:pPr algn="l">
              <a:defRPr sz="73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largest cluster; keep top-2 if second ≥50%</a:t>
            </a:r>
          </a:p>
          <a:p xmlns:a="http://schemas.openxmlformats.org/drawingml/2006/main">
            <a:pPr algn="l">
              <a:defRPr sz="73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Centroid = mean after OBB-centered trimming</a:t>
            </a:r>
          </a:p>
          <a:p xmlns:a="http://schemas.openxmlformats.org/drawingml/2006/main">
            <a:pPr algn="l">
              <a:defRPr sz="73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Convert UR pose to T_end_base via Rodrigues</a:t>
            </a:r>
          </a:p>
          <a:p xmlns:a="http://schemas.openxmlformats.org/drawingml/2006/main">
            <a:pPr algn="l">
              <a:defRPr sz="73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P_base = T_end_base · T_cam_end · P_cam</a:t>
            </a:r>
          </a:p>
          <a:p xmlns:a="http://schemas.openxmlformats.org/drawingml/2006/main">
            <a:pPr algn="l">
              <a:defRPr sz="73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Write vision_result.txt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2DEB8D-3C8B-4AC3-B848-D97483E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Input: camera-frame centroid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8EE17F-B3A1-4A71-B70E-04AFCAA9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57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Output: base-frame [x,y,z]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F682D6-D28E-4FBB-8B00-C13F20C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BC2311-D883-4F1F-B305-88349859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RGB-D files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4EC928-AD7D-462D-B824-E3BB86B9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42EA3E-10E1-4DC5-B371-066B6621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boxes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4044C1-8D62-4EA2-AD5F-E8C19A3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920692-3B2E-4FE8-9C74-5F053F70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masks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4131DA-6971-4B6F-886A-59984F30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295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4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44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A43238-C810-4954-8901-157EDBB7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33775"/>
            <a:ext cx="72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B677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B6778"/>
                </a:solidFill>
                <a:latin typeface="Aptos"/>
                <a:ea typeface="Aptos"/>
                <a:cs typeface="Aptos"/>
              </a:rPr>
              <a:t>3D centroids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42DE0F-DE89-47C8-B914-2B9D883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Legend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028AC2-6980-45E1-ADE3-28C1D3FB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4"/>
          </a:solidFill>
          <a:ln xmlns:a="http://schemas.openxmlformats.org/drawingml/2006/main" w="9525">
            <a:solidFill>
              <a:srgbClr val="1D8A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Green: module input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5EC8C1-2337-4DE1-9C56-15CCEEF8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067C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Blue: module output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E1DD8D-F2CC-413E-97AE-4901E1C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197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8B1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Yellow: config.py prior/calibration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9AE640-0A47-4DE4-A5B3-DC5895B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1133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657282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657282"/>
                </a:solidFill>
                <a:latin typeface="Aptos"/>
                <a:ea typeface="Aptos"/>
                <a:cs typeface="Aptos"/>
              </a:rPr>
              <a:t>Debug mode also saves VLM detections, SAM overlays/masks, Open3D point-cloud screenshots, and a 2×2 report; experiment mode keeps terminal output and result/vision_result.txt.</a:t>
            </a:r>
          </a:p>
        </p:txBody>
      </p:sp>
    </p:spTree>
    <p:extLst>
      <p:ext uri="{BB962C8B-B14F-4D97-AF65-F5344CB8AC3E}">
        <p14:creationId xmlns:p14="http://schemas.microsoft.com/office/powerpoint/2010/main" val="940330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2026-06-01T14:15:28.3630000Z</dcterms:created>
  <dcterms:modified xsi:type="dcterms:W3CDTF">2026-06-01T14:15:28.3640000Z</dcterms:modified>
</coreProperties>
</file>